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Oswald Regular"/>
      <p:regular r:id="rId27"/>
      <p:bold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swaldRegular-bold.fntdata"/><Relationship Id="rId27" Type="http://schemas.openxmlformats.org/officeDocument/2006/relationships/font" Target="fonts/OswaldRegula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88b5adf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88b5adf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d88b5adfd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d88b5adfd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88b5adfd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88b5adfd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d88b5adfd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d88b5adfd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88b5adf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88b5adf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88b5adf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d88b5adf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88b5adfd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88b5adfd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88b5adfd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88b5adfd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88b5adfd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d88b5adfd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d88b5adfd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d88b5adfd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88b5adfd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88b5adfd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d88b5adfd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d88b5adfd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88b5adfd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88b5adfd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88b5adfd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88b5adfd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88b5adfd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88b5adfd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88b5adfd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88b5adfd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88b5adfd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88b5adfd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88b5adfd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88b5adfd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d88b5adf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d88b5adf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88b5adfd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d88b5adfd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32050" y="2017650"/>
            <a:ext cx="507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latin typeface="Oswald Regular"/>
                <a:ea typeface="Oswald Regular"/>
                <a:cs typeface="Oswald Regular"/>
                <a:sym typeface="Oswald Regular"/>
              </a:rPr>
              <a:t>E2EE Messenger</a:t>
            </a:r>
            <a:endParaRPr sz="60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941000" y="983425"/>
            <a:ext cx="256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>
                <a:latin typeface="Oswald"/>
                <a:ea typeface="Oswald"/>
                <a:cs typeface="Oswald"/>
                <a:sym typeface="Oswald"/>
              </a:rPr>
              <a:t>Цели проекта:</a:t>
            </a:r>
            <a:endParaRPr sz="3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941000" y="1846575"/>
            <a:ext cx="6968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Создание мессенджера на основе протокола Диффи — Хеллмана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Возможность регистрации пользователя и добавления друзей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Возможность переписки между двумя пользователями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Возможность создания групповых чатов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Отправка мультимедиа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24150" y="275925"/>
            <a:ext cx="284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Client Registration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950" y="1649225"/>
            <a:ext cx="4708100" cy="315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73850" y="996500"/>
            <a:ext cx="279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Client Registration Timing model</a:t>
            </a:r>
            <a:endParaRPr sz="18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3577" l="942" r="932" t="1527"/>
          <a:stretch/>
        </p:blipFill>
        <p:spPr>
          <a:xfrm>
            <a:off x="977913" y="616538"/>
            <a:ext cx="7188173" cy="391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3991" l="941" r="941" t="1194"/>
          <a:stretch/>
        </p:blipFill>
        <p:spPr>
          <a:xfrm>
            <a:off x="977400" y="619063"/>
            <a:ext cx="7189200" cy="390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324150" y="275925"/>
            <a:ext cx="31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Client </a:t>
            </a:r>
            <a:r>
              <a:rPr lang="ru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Authentication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3481050" y="982350"/>
            <a:ext cx="21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Client </a:t>
            </a:r>
            <a:r>
              <a:rPr lang="ru" sz="180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Auth</a:t>
            </a:r>
            <a:r>
              <a:rPr lang="ru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Timing model</a:t>
            </a:r>
            <a:endParaRPr sz="18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850" y="1564325"/>
            <a:ext cx="4842275" cy="31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 rotWithShape="1">
          <a:blip r:embed="rId3">
            <a:alphaModFix/>
          </a:blip>
          <a:srcRect b="3577" l="942" r="932" t="1527"/>
          <a:stretch/>
        </p:blipFill>
        <p:spPr>
          <a:xfrm>
            <a:off x="977913" y="616538"/>
            <a:ext cx="7188173" cy="391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 rotWithShape="1">
          <a:blip r:embed="rId3">
            <a:alphaModFix/>
          </a:blip>
          <a:srcRect b="4014" l="942" r="854" t="1530"/>
          <a:stretch/>
        </p:blipFill>
        <p:spPr>
          <a:xfrm>
            <a:off x="977400" y="601375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/>
          <p:cNvPicPr preferRelativeResize="0"/>
          <p:nvPr/>
        </p:nvPicPr>
        <p:blipFill rotWithShape="1">
          <a:blip r:embed="rId3">
            <a:alphaModFix/>
          </a:blip>
          <a:srcRect b="3577" l="777" r="855" t="1527"/>
          <a:stretch/>
        </p:blipFill>
        <p:spPr>
          <a:xfrm>
            <a:off x="977400" y="620913"/>
            <a:ext cx="7189200" cy="390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324150" y="275925"/>
            <a:ext cx="31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Key Exchange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22"/>
          <p:cNvSpPr txBox="1"/>
          <p:nvPr/>
        </p:nvSpPr>
        <p:spPr>
          <a:xfrm>
            <a:off x="3341100" y="963000"/>
            <a:ext cx="246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Key Exchange</a:t>
            </a:r>
            <a:r>
              <a:rPr lang="ru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Timing model</a:t>
            </a:r>
            <a:endParaRPr sz="18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563" y="1528950"/>
            <a:ext cx="4198876" cy="320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/>
          <p:cNvPicPr preferRelativeResize="0"/>
          <p:nvPr/>
        </p:nvPicPr>
        <p:blipFill rotWithShape="1">
          <a:blip r:embed="rId3">
            <a:alphaModFix/>
          </a:blip>
          <a:srcRect b="3723" l="-789" r="789" t="1525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 b="3577" l="864" r="855" t="1527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 rotWithShape="1">
          <a:blip r:embed="rId3">
            <a:alphaModFix/>
          </a:blip>
          <a:srcRect b="3729" l="865" r="767" t="1375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6"/>
          <p:cNvPicPr preferRelativeResize="0"/>
          <p:nvPr/>
        </p:nvPicPr>
        <p:blipFill rotWithShape="1">
          <a:blip r:embed="rId3">
            <a:alphaModFix/>
          </a:blip>
          <a:srcRect b="3729" l="777" r="767" t="1375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7"/>
          <p:cNvPicPr preferRelativeResize="0"/>
          <p:nvPr/>
        </p:nvPicPr>
        <p:blipFill rotWithShape="1">
          <a:blip r:embed="rId3">
            <a:alphaModFix/>
          </a:blip>
          <a:srcRect b="3723" l="942" r="854" t="1525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/>
        </p:nvSpPr>
        <p:spPr>
          <a:xfrm>
            <a:off x="324150" y="275925"/>
            <a:ext cx="31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Direct Messaging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3224238" y="982350"/>
            <a:ext cx="26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Direct Messaging </a:t>
            </a:r>
            <a:r>
              <a:rPr lang="ru" sz="1800">
                <a:latin typeface="Oswald Regular"/>
                <a:ea typeface="Oswald Regular"/>
                <a:cs typeface="Oswald Regular"/>
                <a:sym typeface="Oswald Regular"/>
              </a:rPr>
              <a:t>Timing model</a:t>
            </a:r>
            <a:endParaRPr sz="18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pic>
        <p:nvPicPr>
          <p:cNvPr id="138" name="Google Shape;1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200" y="1575225"/>
            <a:ext cx="5415600" cy="30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9"/>
          <p:cNvPicPr preferRelativeResize="0"/>
          <p:nvPr/>
        </p:nvPicPr>
        <p:blipFill rotWithShape="1">
          <a:blip r:embed="rId3">
            <a:alphaModFix/>
          </a:blip>
          <a:srcRect b="3865" l="864" r="855" t="1383"/>
          <a:stretch/>
        </p:blipFill>
        <p:spPr>
          <a:xfrm>
            <a:off x="977388" y="630663"/>
            <a:ext cx="7189200" cy="3882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0"/>
          <p:cNvPicPr preferRelativeResize="0"/>
          <p:nvPr/>
        </p:nvPicPr>
        <p:blipFill rotWithShape="1">
          <a:blip r:embed="rId3">
            <a:alphaModFix/>
          </a:blip>
          <a:srcRect b="3572" l="942" r="932" t="1677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1"/>
          <p:cNvPicPr preferRelativeResize="0"/>
          <p:nvPr/>
        </p:nvPicPr>
        <p:blipFill rotWithShape="1">
          <a:blip r:embed="rId3">
            <a:alphaModFix/>
          </a:blip>
          <a:srcRect b="3575" l="865" r="767" t="1825"/>
          <a:stretch/>
        </p:blipFill>
        <p:spPr>
          <a:xfrm>
            <a:off x="977400" y="629938"/>
            <a:ext cx="7189200" cy="38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/>
        </p:nvSpPr>
        <p:spPr>
          <a:xfrm>
            <a:off x="1087650" y="636750"/>
            <a:ext cx="1740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>
                <a:latin typeface="Oswald"/>
                <a:ea typeface="Oswald"/>
                <a:cs typeface="Oswald"/>
                <a:sym typeface="Oswald"/>
              </a:rPr>
              <a:t>Сделано:</a:t>
            </a:r>
            <a:endParaRPr sz="3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32"/>
          <p:cNvSpPr txBox="1"/>
          <p:nvPr/>
        </p:nvSpPr>
        <p:spPr>
          <a:xfrm>
            <a:off x="1087650" y="1457450"/>
            <a:ext cx="696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Изучен и реализован протокол Диффи — Хеллмана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Разработана архитектура приложения и клиент-серверная логика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Реализован качественный, производительный сервер, способный обрабатывать большое количество пользователей и их сообщений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Реализован user friendly GUI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Асинхронная работа сообщений и добавление пользователей в друзья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/>
        </p:nvSpPr>
        <p:spPr>
          <a:xfrm>
            <a:off x="1400875" y="1025875"/>
            <a:ext cx="256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>
                <a:latin typeface="Oswald"/>
                <a:ea typeface="Oswald"/>
                <a:cs typeface="Oswald"/>
                <a:sym typeface="Oswald"/>
              </a:rPr>
              <a:t>Не сделано:</a:t>
            </a:r>
            <a:endParaRPr sz="3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1400875" y="1880325"/>
            <a:ext cx="48534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Возможность создания групповых чатов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Отправка мультимедиа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Не задеплоили проект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swald"/>
              <a:buAutoNum type="arabicPeriod"/>
            </a:pPr>
            <a:r>
              <a:rPr lang="ru" sz="1900">
                <a:latin typeface="Oswald"/>
                <a:ea typeface="Oswald"/>
                <a:cs typeface="Oswald"/>
                <a:sym typeface="Oswald"/>
              </a:rPr>
              <a:t>Не было досконального тестирования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